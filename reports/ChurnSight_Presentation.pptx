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5F6F8"/>
                </a:solidFill>
                <a:latin typeface="Arial"/>
              </a:defRPr>
            </a:pPr>
            <a:r>
              <a:rPr sz="1400" b="0" i="0" u="none" strike="noStrike">
                <a:solidFill>
                  <a:srgbClr val="F5F6F8"/>
                </a:solidFill>
                <a:latin typeface="Arial"/>
              </a:rPr>
              <a:t>Churn rate by geography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FFF3E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5F6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F3E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1A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F3E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France</c:v>
                  </c:pt>
                  <c:pt idx="1">
                    <c:v>Germany</c:v>
                  </c:pt>
                  <c:pt idx="2">
                    <c:v>Spain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16.15</c:v>
                </c:pt>
                <c:pt idx="1">
                  <c:v>32.44</c:v>
                </c:pt>
                <c:pt idx="2">
                  <c:v>16.67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F5F6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2E3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5F6F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</c:scaling>
        <c:delete val="0"/>
        <c:axPos val="l"/>
        <c:majorGridlines>
          <c:spPr>
            <a:ln w="12700" cap="flat">
              <a:solidFill>
                <a:srgbClr val="2A2E3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9CA3AF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9CA3AF"/>
                    </a:solidFill>
                    <a:latin typeface="Arial"/>
                  </a:rPr>
                  <a:t>Churn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2E3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E14"/>
        </a:solidFill>
        <a:ln>
          <a:noFill/>
        </a:ln>
        <a:effectLst/>
      </c:spPr>
    </c:plotArea>
    <c:plotVisOnly val="1"/>
    <c:dispBlanksAs val="span"/>
  </c:chart>
  <c:spPr>
    <a:solidFill>
      <a:srgbClr val="0B0E1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5F6F8"/>
                </a:solidFill>
                <a:latin typeface="Arial"/>
              </a:defRPr>
            </a:pPr>
            <a:r>
              <a:rPr sz="1400" b="0" i="0" u="none" strike="noStrike">
                <a:solidFill>
                  <a:srgbClr val="F5F6F8"/>
                </a:solidFill>
                <a:latin typeface="Arial"/>
              </a:rPr>
              <a:t>Churn rate by age group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FFF3E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5F6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F3E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F3E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1A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F3E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&lt;30</c:v>
                  </c:pt>
                  <c:pt idx="1">
                    <c:v>30-45</c:v>
                  </c:pt>
                  <c:pt idx="2">
                    <c:v>46-59</c:v>
                  </c:pt>
                  <c:pt idx="3">
                    <c:v>60+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7.6</c:v>
                </c:pt>
                <c:pt idx="1">
                  <c:v>15.3</c:v>
                </c:pt>
                <c:pt idx="2">
                  <c:v>51.1</c:v>
                </c:pt>
                <c:pt idx="3">
                  <c:v>27.9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F5F6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2E3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5F6F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8"/>
        </c:scaling>
        <c:delete val="0"/>
        <c:axPos val="l"/>
        <c:majorGridlines>
          <c:spPr>
            <a:ln w="12700" cap="flat">
              <a:solidFill>
                <a:srgbClr val="2A2E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2E3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E14"/>
        </a:solidFill>
        <a:ln>
          <a:noFill/>
        </a:ln>
        <a:effectLst/>
      </c:spPr>
    </c:plotArea>
    <c:plotVisOnly val="1"/>
    <c:dispBlanksAs val="span"/>
  </c:chart>
  <c:spPr>
    <a:solidFill>
      <a:srgbClr val="0B0E1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5F6F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5F6F8"/>
                </a:solidFill>
                <a:latin typeface="Arial"/>
              </a:rPr>
              <a:t>5-fold cross-validated performance (mean)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FFF3E8">
                <a:alpha val="100000"/>
              </a:srgbClr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5F6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ROC-AUC</c:v>
                  </c:pt>
                  <c:pt idx="1">
                    <c:v>PR-AUC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0.769</c:v>
                </c:pt>
                <c:pt idx="1">
                  <c:v>0.46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FF4B4B">
                <a:alpha val="100000"/>
              </a:srgbClr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5F6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ROC-AUC</c:v>
                  </c:pt>
                  <c:pt idx="1">
                    <c:v>PR-AUC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0.861</c:v>
                </c:pt>
                <c:pt idx="1">
                  <c:v>0.68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F5F6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2E3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5F6F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2A2E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2E3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E14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5F6F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B0E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94015" y="-1371600"/>
            <a:ext cx="5669280" cy="5669280"/>
          </a:xfrm>
          <a:prstGeom prst="ellipse">
            <a:avLst/>
          </a:prstGeom>
          <a:ln w="12700">
            <a:solidFill>
              <a:srgbClr val="2A2E38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42655" y="-822960"/>
            <a:ext cx="4572000" cy="4572000"/>
          </a:xfrm>
          <a:prstGeom prst="ellipse">
            <a:avLst/>
          </a:prstGeom>
          <a:ln w="12700">
            <a:solidFill>
              <a:srgbClr val="FF4B4B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91295" y="-274320"/>
            <a:ext cx="3474720" cy="3474720"/>
          </a:xfrm>
          <a:prstGeom prst="ellipse">
            <a:avLst/>
          </a:prstGeom>
          <a:ln w="12700">
            <a:solidFill>
              <a:srgbClr val="2A2E38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39935" y="274320"/>
            <a:ext cx="2377440" cy="2377440"/>
          </a:xfrm>
          <a:prstGeom prst="ellipse">
            <a:avLst/>
          </a:prstGeom>
          <a:ln w="12700">
            <a:solidFill>
              <a:srgbClr val="FF4B4B">
                <a:alpha val="45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200" kern="0" dirty="0">
                <a:solidFill>
                  <a:srgbClr val="F5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CHURNSIGHT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Bank Customer Segmentation &amp; Churn Analytics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3337560"/>
            <a:ext cx="2011680" cy="0"/>
          </a:xfrm>
          <a:prstGeom prst="line">
            <a:avLst/>
          </a:prstGeom>
          <a:noFill/>
          <a:ln w="31750">
            <a:solidFill>
              <a:srgbClr val="FF4B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6118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Segmentation-driven churn diagnostics, an explainable-vs-nonlinear model comparison, and a capacity-constrained retention ROI simulator — built as a transparent, governed decision-support tool.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Iqra Insights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github.com/iqra-insights/churnsight-eu-banking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averages hide where churn actually happens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71B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810512"/>
            <a:ext cx="502920" cy="502920"/>
          </a:xfrm>
          <a:prstGeom prst="ellipse">
            <a:avLst/>
          </a:prstGeom>
          <a:solidFill>
            <a:srgbClr val="FF4B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05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lifetime value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churned customer removes years of future revenue and cross-sell potential.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5544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71B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90872" y="1810512"/>
            <a:ext cx="502920" cy="502920"/>
          </a:xfrm>
          <a:prstGeom prst="ellipse">
            <a:avLst/>
          </a:prstGeom>
          <a:solidFill>
            <a:srgbClr val="FF4B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90872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05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acquisition cost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926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a lost customer typically costs far more than retaining an existing one.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21040" y="15544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71B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77072" y="1810512"/>
            <a:ext cx="502920" cy="502920"/>
          </a:xfrm>
          <a:prstGeom prst="ellipse">
            <a:avLst/>
          </a:prstGeom>
          <a:solidFill>
            <a:srgbClr val="FF4B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77072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05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instability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2926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Concentrated, unexplained churn spikes make forecasting and planning unreliable.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1D222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2519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track an overall churn rate — but without segmentation they cannot answer which customer groups are most at risk, how churn differs by geography and age, or whether it concentrates among high-value accounts. Retention strategy stays generic and reactive.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Parcl Co. Limited  ·  Program: Unified Mentor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ChurnSight  ·  European Bank Customer Segmentation &amp; Churn Analytics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and dataset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171B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2203704"/>
            <a:ext cx="109728" cy="109728"/>
          </a:xfrm>
          <a:prstGeom prst="ellipse">
            <a:avLst/>
          </a:prstGeom>
          <a:solidFill>
            <a:srgbClr val="FF4B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07568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overall churn rate with full transparency on definitions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2862072"/>
            <a:ext cx="109728" cy="109728"/>
          </a:xfrm>
          <a:prstGeom prst="ellipse">
            <a:avLst/>
          </a:prstGeom>
          <a:solidFill>
            <a:srgbClr val="FF4B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273405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churn distribution across business-defined segments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520440"/>
            <a:ext cx="109728" cy="109728"/>
          </a:xfrm>
          <a:prstGeom prst="ellipse">
            <a:avLst/>
          </a:prstGeom>
          <a:solidFill>
            <a:srgbClr val="FF4B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339242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churn behavior across France, Germany, and Spain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4178808"/>
            <a:ext cx="109728" cy="109728"/>
          </a:xfrm>
          <a:prstGeom prst="ellipse">
            <a:avLst/>
          </a:prstGeom>
          <a:solidFill>
            <a:srgbClr val="FF4B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405079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churn among high-value, high-balance customers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4837176"/>
            <a:ext cx="109728" cy="109728"/>
          </a:xfrm>
          <a:prstGeom prst="ellipse">
            <a:avLst/>
          </a:prstGeom>
          <a:solidFill>
            <a:srgbClr val="FF4B4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47091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engagement and tenure patterns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5495544"/>
            <a:ext cx="109728" cy="109728"/>
          </a:xfrm>
          <a:prstGeom prst="ellipse">
            <a:avLst/>
          </a:prstGeom>
          <a:solidFill>
            <a:srgbClr val="FF4B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43000" y="536752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 explainable baseline model against a nonlinear model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141732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1D222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0" y="1645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20840" y="2331720"/>
            <a:ext cx="1554480" cy="1554480"/>
          </a:xfrm>
          <a:prstGeom prst="ellipse">
            <a:avLst/>
          </a:prstGeom>
          <a:solidFill>
            <a:srgbClr val="1D222C"/>
          </a:solidFill>
          <a:ln w="28575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0840" y="261152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29549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778240" y="2331720"/>
            <a:ext cx="1554480" cy="1554480"/>
          </a:xfrm>
          <a:prstGeom prst="ellipse">
            <a:avLst/>
          </a:prstGeom>
          <a:solidFill>
            <a:srgbClr val="1D222C"/>
          </a:solidFill>
          <a:ln w="28575">
            <a:solidFill>
              <a:srgbClr val="FF4B4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778240" y="261152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8641080" y="329549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fields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Geography: France · Germany · Spain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45720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CreditScore, Age, Tenure, Balance, NumOfProducts, HasCrCard, IsActiveMember, EstimatedSalary, Exited (target)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83680" y="5532120"/>
            <a:ext cx="484632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0" y="5669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missing values in required fields · unique customer IDs · consistent binary flags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ChurnSight  ·  European Bank Customer Segmentation &amp; Churn Analytics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five segmentation dimensions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171B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96596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60604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· Germany · Spain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834640" y="173736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171B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71800" y="196596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band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2971800" y="260604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 · 30–45 · 46–59 · 60+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120640" y="173736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171B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57800" y="196596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260604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&lt;580 · 580–669 · 670+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06640" y="173736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171B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43800" y="196596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543800" y="260604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 · 3–6 · 7–10 years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692640" y="173736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171B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29800" y="196596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9829800" y="260604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· Low · High (median split)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2084832" cy="777240"/>
          </a:xfrm>
          <a:prstGeom prst="roundRect">
            <a:avLst>
              <a:gd name="adj" fmla="val 14118"/>
            </a:avLst>
          </a:prstGeom>
          <a:solidFill>
            <a:srgbClr val="1D222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89204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schema &amp; ranges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633472" y="4892040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834640" y="4892040"/>
            <a:ext cx="2084832" cy="777240"/>
          </a:xfrm>
          <a:prstGeom prst="roundRect">
            <a:avLst>
              <a:gd name="adj" fmla="val 14118"/>
            </a:avLst>
          </a:prstGeom>
          <a:solidFill>
            <a:srgbClr val="1D222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26080" y="489204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segments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919472" y="4892040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20640" y="4892040"/>
            <a:ext cx="2084832" cy="777240"/>
          </a:xfrm>
          <a:prstGeom prst="roundRect">
            <a:avLst>
              <a:gd name="adj" fmla="val 14118"/>
            </a:avLst>
          </a:prstGeom>
          <a:solidFill>
            <a:srgbClr val="1D222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12080" y="489204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KPIs &amp; EDA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205472" y="4892040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06640" y="4892040"/>
            <a:ext cx="2084832" cy="777240"/>
          </a:xfrm>
          <a:prstGeom prst="roundRect">
            <a:avLst>
              <a:gd name="adj" fmla="val 14118"/>
            </a:avLst>
          </a:prstGeom>
          <a:solidFill>
            <a:srgbClr val="1D222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0" y="489204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LR + Random Forest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491472" y="4892040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692640" y="4892040"/>
            <a:ext cx="2084832" cy="777240"/>
          </a:xfrm>
          <a:prstGeom prst="roundRect">
            <a:avLst>
              <a:gd name="adj" fmla="val 14118"/>
            </a:avLst>
          </a:prstGeom>
          <a:solidFill>
            <a:srgbClr val="1D222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784080" y="489204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dashboard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and both classifiers run inside scikit-learn Pipelines (median/most-frequent imputation, standardization, one-hot encoding) to reduce train/test leakage. random_state = 42 throughout.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ChurnSight  ·  European Bank Customer Segmentation &amp; Churn Analytics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result: churn is not evenly spread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252728" y="1234440"/>
            <a:ext cx="672084" cy="29260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52728" y="1234440"/>
            <a:ext cx="672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34540" y="1234440"/>
            <a:ext cx="516636" cy="29260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034540" y="1234440"/>
            <a:ext cx="5166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71B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03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20.4%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154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10712" y="178308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71B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02152" y="2103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2,037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3154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churned of 10,000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72784" y="178308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71B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64224" y="2103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32.4%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3154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churn (highest)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34856" y="178308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71B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26296" y="2103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1.59×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9317736" y="3154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vs. portfolio average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34340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1D222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457200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alone contributes ~40% of all churners while holding only ~25% of the customer base — despite France having 5,014 customers vs. Germany's 2,509. This is the single highest-leverage geography for retention investment.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ChurnSight  ·  European Bank Customer Segmentation &amp; Churn Analytics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rate by geography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6751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452360" y="1508760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171B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680960" y="16733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103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5,014 customers · 16.15% churn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452360" y="3136392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8B1A1A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80960" y="33009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37307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2,509 customers · 32.44% churn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52360" y="4764024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171B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80960" y="49286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680960" y="535838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2,477 customers · 16.67% churn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ChurnSight  ·  European Bank Customer Segmentation &amp; Churn Analytics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strongest signal: age 46–59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6751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452360" y="1371600"/>
            <a:ext cx="4160520" cy="2103120"/>
          </a:xfrm>
          <a:prstGeom prst="roundRect">
            <a:avLst>
              <a:gd name="adj" fmla="val 3478"/>
            </a:avLst>
          </a:prstGeom>
          <a:solidFill>
            <a:srgbClr val="8B1A1A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680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67.3%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33172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for Germany × age 46–59 — the single riskiest combined segment in the dataset.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452360" y="3703320"/>
            <a:ext cx="4160520" cy="2423160"/>
          </a:xfrm>
          <a:prstGeom prst="roundRect">
            <a:avLst>
              <a:gd name="adj" fmla="val 3019"/>
            </a:avLst>
          </a:prstGeom>
          <a:solidFill>
            <a:srgbClr val="171B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80960" y="3931920"/>
            <a:ext cx="3703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46–59 spike is not isolated to one market — it appears in France (45.5%), Germany (67.3%), and Spain (40.8%). Age and geography compound rather than substitute for each other.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ChurnSight  ·  European Bank Customer Segmentation &amp; Churn Analytics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and high-value customer risk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171B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risk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05840" y="2331720"/>
            <a:ext cx="1828800" cy="1828800"/>
          </a:xfrm>
          <a:prstGeom prst="ellipse">
            <a:avLst/>
          </a:prstGeom>
          <a:solidFill>
            <a:srgbClr val="1D222C"/>
          </a:solidFill>
          <a:ln w="28575">
            <a:solidFill>
              <a:srgbClr val="FF4B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660904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1.88×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6557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vs. active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 ratio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26.85%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among inactive members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14.27%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3977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among active members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4617720"/>
            <a:ext cx="470916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80060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is an actionable retention lever, independent of demographics — a strong candidate for a low-cost re-engagement campaign.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146304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1D222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1691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customer exposure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20840" y="2331720"/>
            <a:ext cx="1554480" cy="1554480"/>
          </a:xfrm>
          <a:prstGeom prst="ellipse">
            <a:avLst/>
          </a:prstGeom>
          <a:solidFill>
            <a:srgbClr val="1D222C"/>
          </a:solidFill>
          <a:ln w="28575">
            <a:solidFill>
              <a:srgbClr val="FF4B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0840" y="261152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23.7%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329549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among top-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quartile balance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32520" y="2331720"/>
            <a:ext cx="1554480" cy="1554480"/>
          </a:xfrm>
          <a:prstGeom prst="ellipse">
            <a:avLst/>
          </a:prstGeom>
          <a:solidFill>
            <a:srgbClr val="1D222C"/>
          </a:solidFill>
          <a:ln w="28575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32520" y="261152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329549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4160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€127,644 balance (75th percentile)  ·  592 of 2,500 high-value customers churned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83680" y="4846320"/>
            <a:ext cx="484632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0" y="50292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not concentrated only among low-value customers — high-value churn (23.68%) exceeds the portfolio average (20.37%). ~€88.7M in balance sits with churned high-value customers — an exposure figure, not a revenue-loss estimate.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ChurnSight  ·  European Bank Customer Segmentation &amp; Churn Analytics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comparison: explainable baseline vs. nonlinear model</a:t>
            </a:r>
            <a:endParaRPr lang="en-US" sz="25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6309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086600" y="1417320"/>
            <a:ext cx="4526280" cy="2011680"/>
          </a:xfrm>
          <a:prstGeom prst="roundRect">
            <a:avLst>
              <a:gd name="adj" fmla="val 3636"/>
            </a:avLst>
          </a:prstGeom>
          <a:solidFill>
            <a:srgbClr val="171B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60920" y="1600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7360920" y="20116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baseline. Signed coefficients show direction of effect — used to sanity-check leakage and communicate results to non-technical stakeholders.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086600" y="3611880"/>
            <a:ext cx="4526280" cy="2011680"/>
          </a:xfrm>
          <a:prstGeom prst="roundRect">
            <a:avLst>
              <a:gd name="adj" fmla="val 3636"/>
            </a:avLst>
          </a:prstGeom>
          <a:solidFill>
            <a:srgbClr val="1D222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60920" y="3794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360920" y="420624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ranking on every metric (ROC-AUC 0.861 vs. 0.769; Brier score 0.129 vs. 0.194 — lower is better). Preferred candidate for a production-style risk-ranking score.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classifiers use balanced class weights, an 80/20 stratified holdout (random_state=42), and five-fold stratified cross-validation for robustness. Results match the automated test suite exactly.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ChurnSight  ·  European Bank Customer Segmentation &amp; Churn Analytics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71B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Germany first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8775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service, product, pricing, and channel differences before a broad retention campaign.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71B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1031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controlled re-engagement test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58775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experiment for inactive customers, with contact limits and a held-out control group.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4173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71B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0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1031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product-count anomalies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58775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 and 4-product customers show 82.7% and 100% churn on small samples (266 / 60) — verify the data definition.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71B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794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343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high-value flags to humans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82803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for review; never auto-action, and never describe balance exposure as revenue loss.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97680" y="36576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71B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80560" y="3794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4343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thresholds from business cost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482803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contact capacity and false-positive/negative cost — not a default 0.50 cutoff.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46720" y="36576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71B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0" y="3794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343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beyond accuracy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82803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lift, retained customers, complaints, calibration, and fairness after any deployment.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ChurnSight  ·  European Bank Customer Segmentation &amp; Churn Analytics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use and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171B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decision-support tool, not a decision system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2478024"/>
            <a:ext cx="109728" cy="109728"/>
          </a:xfrm>
          <a:prstGeom prst="ellipse">
            <a:avLst/>
          </a:prstGeom>
          <a:solidFill>
            <a:srgbClr val="FF4B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331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must never be used to deny services or make adverse decisions directly.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68680" y="3392424"/>
            <a:ext cx="109728" cy="109728"/>
          </a:xfrm>
          <a:prstGeom prst="ellipse">
            <a:avLst/>
          </a:prstGeom>
          <a:solidFill>
            <a:srgbClr val="FF4B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3246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and geography differences are associations, not causal effects — they require a fairness review before any operational use.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4306824"/>
            <a:ext cx="109728" cy="109728"/>
          </a:xfrm>
          <a:prstGeom prst="ellipse">
            <a:avLst/>
          </a:prstGeom>
          <a:solidFill>
            <a:srgbClr val="FF4B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41605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human decision owner and a documented override process.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5221224"/>
            <a:ext cx="109728" cy="109728"/>
          </a:xfrm>
          <a:prstGeom prst="ellipse">
            <a:avLst/>
          </a:prstGeom>
          <a:solidFill>
            <a:srgbClr val="FF4B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50749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Data-owner approval and privacy review required before operational use.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41732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1D222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1645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cannot tell us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83680" y="2478024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0" y="2331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cross-sectional snapshot — no event timeline or temporal validation.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0" y="3392424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0" y="3246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churn reason, contact history, or treatment outcome recorded.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0" y="4306824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0" y="41605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is not revenue, profit, or customer lifetime value.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0" y="5221224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0" y="50749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provenance and currency are not documented in the source workbook.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ChurnSight  ·  European Bank Customer Segmentation &amp; Churn Analytics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59775" y="2926080"/>
            <a:ext cx="5669280" cy="5669280"/>
          </a:xfrm>
          <a:prstGeom prst="ellipse">
            <a:avLst/>
          </a:prstGeom>
          <a:ln w="12700">
            <a:solidFill>
              <a:srgbClr val="2A2E38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08415" y="3474720"/>
            <a:ext cx="4572000" cy="4572000"/>
          </a:xfrm>
          <a:prstGeom prst="ellipse">
            <a:avLst/>
          </a:prstGeom>
          <a:ln w="12700">
            <a:solidFill>
              <a:srgbClr val="FF4B4B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57055" y="4023360"/>
            <a:ext cx="3474720" cy="3474720"/>
          </a:xfrm>
          <a:prstGeom prst="ellipse">
            <a:avLst/>
          </a:prstGeom>
          <a:ln w="12700">
            <a:solidFill>
              <a:srgbClr val="2A2E38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05695" y="4572000"/>
            <a:ext cx="2377440" cy="2377440"/>
          </a:xfrm>
          <a:prstGeom prst="ellipse">
            <a:avLst/>
          </a:prstGeom>
          <a:ln w="12700">
            <a:solidFill>
              <a:srgbClr val="FF4B4B">
                <a:alpha val="45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the full analysis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68680" y="2606040"/>
            <a:ext cx="2011680" cy="0"/>
          </a:xfrm>
          <a:prstGeom prst="line">
            <a:avLst/>
          </a:prstGeom>
          <a:noFill/>
          <a:ln w="31750">
            <a:solidFill>
              <a:srgbClr val="FF4B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108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dashboard: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31089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churnsight-eu-banking.streamlit.app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657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code: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36576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github.com/iqra-insights/churnsight-eu-banking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206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paper: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42062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reports/research_paper.md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754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summary: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4754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reports/executive_summary.md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Iqra Insights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Iqra Insights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ChurnSight — European Bank Customer Segmentation &amp; Churn Analytics</dc:title>
  <dc:subject>PptxGenJS Presentation</dc:subject>
  <dc:creator>Iqra Insights</dc:creator>
  <cp:lastModifiedBy>Iqra Insights</cp:lastModifiedBy>
  <cp:revision>1</cp:revision>
  <dcterms:created xsi:type="dcterms:W3CDTF">2026-09-21T20:10:05Z</dcterms:created>
  <dcterms:modified xsi:type="dcterms:W3CDTF">2026-09-21T20:10:05Z</dcterms:modified>
</cp:coreProperties>
</file>